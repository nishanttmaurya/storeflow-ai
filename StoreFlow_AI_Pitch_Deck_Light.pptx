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563EB"/>
                </a:solidFill>
                <a:latin typeface="Segoe UI"/>
              </a:rPr>
              <a:t>PROBLEM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62895" y="36576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75569"/>
                </a:solidFill>
                <a:latin typeface="Segoe UI"/>
              </a:rPr>
              <a:t>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Segoe UI"/>
              </a:rPr>
              <a:t>StoreFlow AI: Real-Time In-Store Spatial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475569"/>
                </a:solidFill>
                <a:latin typeface="Segoe UI"/>
              </a:rPr>
              <a:t>A Privacy-Preserving, Ultra-Low-Cost Computer Vision Engine for Physical Retail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b="1" sz="1100">
                <a:solidFill>
                  <a:srgbClr val="2563EB"/>
                </a:solidFill>
              </a:rPr>
              <a:t>  THE $25T BLIND SPOT: </a:t>
            </a:r>
            <a:r>
              <a:rPr sz="1050">
                <a:solidFill>
                  <a:srgbClr val="475569"/>
                </a:solidFill>
              </a:rPr>
              <a:t>E-commerce tracks every mouse hover &amp; bounce rate. Physical retail accounts for $25 Trillion in commerce, yet operates blind without in-store browsing, dwell, or queue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3036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/>
            <a:r>
              <a:rPr b="1" sz="1200">
                <a:solidFill>
                  <a:srgbClr val="EF4444"/>
                </a:solidFill>
              </a:rPr>
              <a:t>THE LEGACY IMPASSE (WHY SOLUTIONS FAIL)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Specialized 3D LiDAR &amp; Stereo Cameras: </a:t>
            </a:r>
            <a:r>
              <a:rPr sz="1000">
                <a:solidFill>
                  <a:srgbClr val="475569"/>
                </a:solidFill>
              </a:rPr>
              <a:t>Prohibitive hardware CAPEX ($1,200/sensor, $9,600-$10,000+ per store) requiring extensive ceiling mounting and wiring.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Cloud Video Streaming Bandwidth &amp; OPEX: </a:t>
            </a:r>
            <a:r>
              <a:rPr sz="1000">
                <a:solidFill>
                  <a:srgbClr val="475569"/>
                </a:solidFill>
              </a:rPr>
              <a:t>Streaming raw 1080p video costs $1,200-$2,500/month per store in GPU decoding and demands 32 Mbps continuous uplink.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• Severe Biometric Privacy Penalties: </a:t>
            </a:r>
            <a:r>
              <a:rPr sz="1000">
                <a:solidFill>
                  <a:srgbClr val="475569"/>
                </a:solidFill>
              </a:rPr>
              <a:t>Facial recognition triggers statutory liability under India DPDP Act 2023 (fines up to ₹250 Crore) and EU GDPR Article 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2240280"/>
            <a:ext cx="5230368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/>
            <a:r>
              <a:rPr b="1" sz="1200">
                <a:solidFill>
                  <a:srgbClr val="10B981"/>
                </a:solidFill>
              </a:rPr>
              <a:t>THE STOREFLOW AI BREAKTHROUGH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✓ Existing Legacy CCTV Compatible: </a:t>
            </a:r>
            <a:r>
              <a:rPr sz="1000">
                <a:solidFill>
                  <a:srgbClr val="475569"/>
                </a:solidFill>
              </a:rPr>
              <a:t>Extracts spatial intelligence from standard $25 CCTV camera streams with $0 new optical hardware investment.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✓ $130 Edge Appliance Architecture: </a:t>
            </a:r>
            <a:r>
              <a:rPr sz="1000">
                <a:solidFill>
                  <a:srgbClr val="475569"/>
                </a:solidFill>
              </a:rPr>
              <a:t>Runs zero-copy hardware decoding (DMA RAM) and INT8 YOLOv10-Nano + OC-SORT on-premise at 12W power.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172A"/>
                </a:solidFill>
              </a:rPr>
              <a:t>✓ 100% Zero-PII Statutory Privacy: </a:t>
            </a:r>
            <a:r>
              <a:rPr sz="1000">
                <a:solidFill>
                  <a:srgbClr val="475569"/>
                </a:solidFill>
              </a:rPr>
              <a:t>Faces are hardware-masked in volatile RAM; only anonymous 2D metric trajectory tokens (3.25 KB/s) stream over MQTT.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50992"/>
            <a:ext cx="3429000" cy="8046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2563EB"/>
                </a:solidFill>
              </a:rPr>
              <a:t>$0 CAPEX</a:t>
            </a:r>
          </a:p>
          <a:p>
            <a:pPr algn="ctr"/>
            <a:r>
              <a:rPr sz="950">
                <a:solidFill>
                  <a:srgbClr val="0F172A"/>
                </a:solidFill>
              </a:rPr>
              <a:t>100% Legacy CCTV Compatible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5650992"/>
            <a:ext cx="3429000" cy="80467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10B981"/>
                </a:solidFill>
              </a:rPr>
              <a:t>14,000x Bandwidth Cut</a:t>
            </a:r>
          </a:p>
          <a:p>
            <a:pPr algn="ctr"/>
            <a:r>
              <a:rPr sz="950">
                <a:solidFill>
                  <a:srgbClr val="0F172A"/>
                </a:solidFill>
              </a:rPr>
              <a:t>Raw 32 Mbps -&gt; 3.25 KB/s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5650992"/>
            <a:ext cx="3429000" cy="80467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8B5CF6"/>
                </a:solidFill>
              </a:rPr>
              <a:t>&gt;97% TCO Reduction</a:t>
            </a:r>
          </a:p>
          <a:p>
            <a:pPr algn="ctr"/>
            <a:r>
              <a:rPr sz="950">
                <a:solidFill>
                  <a:srgbClr val="0F172A"/>
                </a:solidFill>
              </a:rPr>
              <a:t>$601/yr vs $24,000/yr Legacy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563EB"/>
                </a:solidFill>
                <a:latin typeface="Segoe UI"/>
              </a:rPr>
              <a:t>OPERATIONAL FEASIBILITY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62895" y="36576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75569"/>
                </a:solidFill>
                <a:latin typeface="Segoe UI"/>
              </a:rP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Segoe UI"/>
              </a:rPr>
              <a:t>How We Deploy: The 4-Step Zero-Disruption Supermarket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475569"/>
                </a:solidFill>
                <a:latin typeface="Segoe UI"/>
              </a:rPr>
              <a:t>From CAD / Mobile Photo Blueprint to Live Intelligence in &lt;48 Hours with Zero Downtime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42032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/>
            <a:r>
              <a:rPr b="1" sz="1000">
                <a:solidFill>
                  <a:srgbClr val="2563EB"/>
                </a:solidFill>
              </a:rPr>
              <a:t>STEP 1: 30 MINS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172A"/>
                </a:solidFill>
              </a:rPr>
              <a:t>Blueprint Ingestion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Upload CAD DXF/SVG or snap a smartphone photo of fire exit map.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Auto-contour fixture vectorization in &lt;2 min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One-click semantic department tagging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Saves $3,000/store in manual surveyor visits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542032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/>
            <a:r>
              <a:rPr b="1" sz="1000">
                <a:solidFill>
                  <a:srgbClr val="10B981"/>
                </a:solidFill>
              </a:rPr>
              <a:t>STEP 2: 15 MINS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172A"/>
                </a:solidFill>
              </a:rPr>
              <a:t>CCTV Auto-Discovery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Multicast ONVIF scan finds all 12-16 IP cameras on VLAN in &lt;45s.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3-min 4-point landmark alignment tool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Computes planar homography H matrix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Zero ladders, zero ceiling wiring touches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737360"/>
            <a:ext cx="2542032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/>
            <a:r>
              <a:rPr b="1" sz="1000">
                <a:solidFill>
                  <a:srgbClr val="8B5CF6"/>
                </a:solidFill>
              </a:rPr>
              <a:t>STEP 3: 10 MINS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172A"/>
                </a:solidFill>
              </a:rPr>
              <a:t>Plug-In Edge Appliance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Connect 1 Ethernet cable to PoE switch + plug 12W micro-power.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Passive video tap: NVR recording unaffected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Zero inbound open ports: Bank-grade TLS 1.3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Non-invasive: POS billing runs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737360"/>
            <a:ext cx="2542032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/>
            <a:r>
              <a:rPr b="1" sz="1000">
                <a:solidFill>
                  <a:srgbClr val="F59E0B"/>
                </a:solidFill>
              </a:rPr>
              <a:t>STEP 4: 48 HOURS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0F172A"/>
                </a:solidFill>
              </a:rPr>
              <a:t>Go-Live &amp; Baseline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475569"/>
                </a:solidFill>
              </a:rPr>
              <a:t>24h unsupervised learning establishes store walking &amp; queue norms.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Optional POS API link correlates dwell to basket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Floor manager mobile WhatsApp bot active</a:t>
            </a:r>
          </a:p>
          <a:p>
            <a:pPr>
              <a:spcBef>
                <a:spcPts val="600"/>
              </a:spcBef>
            </a:pPr>
            <a:r>
              <a:rPr sz="900">
                <a:solidFill>
                  <a:srgbClr val="0F172A"/>
                </a:solidFill>
              </a:rPr>
              <a:t>• Full enterprise decision cockpit operational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065F46"/>
                </a:solidFill>
              </a:rPr>
              <a:t>GUARANTEE: ZERO STORE DOWNTIME  |  ZERO PHYSICAL CEILING WIRING  |  100% PASSIVE NETWORK TAP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563EB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62895" y="36576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75569"/>
                </a:solidFill>
                <a:latin typeface="Segoe UI"/>
              </a:rP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Segoe UI"/>
              </a:rPr>
              <a:t>End-to-End Architecture: Edge-Native Zero-Copy CV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475569"/>
                </a:solidFill>
                <a:latin typeface="Segoe UI"/>
              </a:rPr>
              <a:t>From Oblique RTSP Camera Streams to 2D Metric Spatial Intelligence with 3.25 KB/s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b="1" sz="1000">
                <a:solidFill>
                  <a:srgbClr val="2563EB"/>
                </a:solidFill>
              </a:rPr>
              <a:t>TIER 1: PHYSICAL INGESTION</a:t>
            </a:r>
          </a:p>
          <a:p>
            <a:r>
              <a:rPr sz="900">
                <a:solidFill>
                  <a:srgbClr val="475569"/>
                </a:solidFill>
              </a:rPr>
              <a:t>Local Store CCTV VLAN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8-16 IP Cameras: </a:t>
            </a:r>
            <a:r>
              <a:rPr sz="800">
                <a:solidFill>
                  <a:srgbClr val="475569"/>
                </a:solidFill>
              </a:rPr>
              <a:t>1080p RTSP feeds over existing PoE network switch.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Zero Cloud Video: </a:t>
            </a:r>
            <a:r>
              <a:rPr sz="800">
                <a:solidFill>
                  <a:srgbClr val="475569"/>
                </a:solidFill>
              </a:rPr>
              <a:t>Raw video never leaves store LAN; 0 Mbps public internet consumed.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Passive RTSP Tap: </a:t>
            </a:r>
            <a:r>
              <a:rPr sz="800">
                <a:solidFill>
                  <a:srgbClr val="475569"/>
                </a:solidFill>
              </a:rPr>
              <a:t>Preserves existing NVR storage without performance degradation.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0984" y="1691640"/>
            <a:ext cx="3017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b="1" sz="1000">
                <a:solidFill>
                  <a:srgbClr val="10B981"/>
                </a:solidFill>
              </a:rPr>
              <a:t>TIER 2: EDGE APPLIANCE ($130)</a:t>
            </a:r>
          </a:p>
          <a:p>
            <a:r>
              <a:rPr sz="900">
                <a:solidFill>
                  <a:srgbClr val="475569"/>
                </a:solidFill>
              </a:rPr>
              <a:t>Zero-Copy On-Prem CV Engine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GStreamer DMA Buffer: </a:t>
            </a:r>
            <a:r>
              <a:rPr sz="800">
                <a:solidFill>
                  <a:srgbClr val="475569"/>
                </a:solidFill>
              </a:rPr>
              <a:t>nvv4l2 / vaapi hardware decodes to unified GPU memory directly.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YOLOv10-Nano INT8: </a:t>
            </a:r>
            <a:r>
              <a:rPr sz="800">
                <a:solidFill>
                  <a:srgbClr val="475569"/>
                </a:solidFill>
              </a:rPr>
              <a:t>NMS-free dual label assignment executes in 1.84ms per frame.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OC-SORT + Ankle Keypoints: </a:t>
            </a:r>
            <a:r>
              <a:rPr sz="800">
                <a:solidFill>
                  <a:srgbClr val="475569"/>
                </a:solidFill>
              </a:rPr>
              <a:t>Tracks ground contact (ug, vmax) with &lt;0.11m metric accuracy.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Planar Homography (H): </a:t>
            </a:r>
            <a:r>
              <a:rPr sz="800">
                <a:solidFill>
                  <a:srgbClr val="475569"/>
                </a:solidFill>
              </a:rPr>
              <a:t>Transforms pixel coordinates to 2D store CAD floor coordinates.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Zero-PII Re-ID (OSNet): </a:t>
            </a:r>
            <a:r>
              <a:rPr sz="800">
                <a:solidFill>
                  <a:srgbClr val="475569"/>
                </a:solidFill>
              </a:rPr>
              <a:t>Upper 25% face area masked; extracts 128-d apparel feature.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90-Day NVMe Spooling: </a:t>
            </a:r>
            <a:r>
              <a:rPr sz="800">
                <a:solidFill>
                  <a:srgbClr val="475569"/>
                </a:solidFill>
              </a:rPr>
              <a:t>Stores trajectory tokens locally during broadband outages.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691640"/>
            <a:ext cx="2834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b="1" sz="1000">
                <a:solidFill>
                  <a:srgbClr val="8B5CF6"/>
                </a:solidFill>
              </a:rPr>
              <a:t>TIER 3: SAAS ANALYTICS HUB</a:t>
            </a:r>
          </a:p>
          <a:p>
            <a:r>
              <a:rPr sz="900">
                <a:solidFill>
                  <a:srgbClr val="475569"/>
                </a:solidFill>
              </a:rPr>
              <a:t>Columnar Spatial Analytics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ClickHouse / DuckDB: </a:t>
            </a:r>
            <a:r>
              <a:rPr sz="800">
                <a:solidFill>
                  <a:srgbClr val="475569"/>
                </a:solidFill>
              </a:rPr>
              <a:t>High-throughput columnar store for trajectory points.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Gaussian KDE Engine: </a:t>
            </a:r>
            <a:r>
              <a:rPr sz="800">
                <a:solidFill>
                  <a:srgbClr val="475569"/>
                </a:solidFill>
              </a:rPr>
              <a:t>Generates continuous 2D foot-traffic heatmaps in real-time.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Savitzky-Golay Dwell: </a:t>
            </a:r>
            <a:r>
              <a:rPr sz="800">
                <a:solidFill>
                  <a:srgbClr val="475569"/>
                </a:solidFill>
              </a:rPr>
              <a:t>Filters transit; computes Engagement-to-Passby Ratio (EPR).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Fluid Dynamics Choke: </a:t>
            </a:r>
            <a:r>
              <a:rPr sz="800">
                <a:solidFill>
                  <a:srgbClr val="475569"/>
                </a:solidFill>
              </a:rPr>
              <a:t>Detects bottleneck accumulation where velocity divergence div(v) &lt; 0.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Markov Chain Matrix: </a:t>
            </a:r>
            <a:r>
              <a:rPr sz="800">
                <a:solidFill>
                  <a:srgbClr val="475569"/>
                </a:solidFill>
              </a:rPr>
              <a:t>Models customer circulation to identify neglected dead zones.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54312" y="1691640"/>
            <a:ext cx="21488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/>
            <a:r>
              <a:rPr b="1" sz="1000">
                <a:solidFill>
                  <a:srgbClr val="F59E0B"/>
                </a:solidFill>
              </a:rPr>
              <a:t>TIER 4: DECISION COCKPIT</a:t>
            </a:r>
          </a:p>
          <a:p>
            <a:r>
              <a:rPr sz="900">
                <a:solidFill>
                  <a:srgbClr val="475569"/>
                </a:solidFill>
              </a:rPr>
              <a:t>Light-Mode UI &amp; Mobile Bots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2D Digital Twin Cockpit: </a:t>
            </a:r>
            <a:r>
              <a:rPr sz="800">
                <a:solidFill>
                  <a:srgbClr val="475569"/>
                </a:solidFill>
              </a:rPr>
              <a:t>Interactive CAD store map with live heatmaps &amp; shopper paths.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WhatsApp / Push Bot: </a:t>
            </a:r>
            <a:r>
              <a:rPr sz="800">
                <a:solidFill>
                  <a:srgbClr val="475569"/>
                </a:solidFill>
              </a:rPr>
              <a:t>Dispatches 30s queue bottleneck alerts directly to floor supervisors.</a:t>
            </a:r>
          </a:p>
          <a:p>
            <a:pPr>
              <a:spcBef>
                <a:spcPts val="600"/>
              </a:spcBef>
            </a:pPr>
            <a:r>
              <a:rPr b="1" sz="850">
                <a:solidFill>
                  <a:srgbClr val="0F172A"/>
                </a:solidFill>
              </a:rPr>
              <a:t>• Planogram Simulation: </a:t>
            </a:r>
            <a:r>
              <a:rPr sz="800">
                <a:solidFill>
                  <a:srgbClr val="475569"/>
                </a:solidFill>
              </a:rPr>
              <a:t>Predicts revenue lift before moving physical grocery fixtures.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563EB"/>
                </a:solidFill>
                <a:latin typeface="Segoe UI"/>
              </a:rPr>
              <a:t>COMPUTER VISION DEEP-DIVE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62895" y="36576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75569"/>
                </a:solidFill>
                <a:latin typeface="Segoe UI"/>
              </a:rP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Segoe UI"/>
              </a:rPr>
              <a:t>CV Core: Metric BEV Projection &amp; Disjoint Camera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475569"/>
                </a:solidFill>
                <a:latin typeface="Segoe UI"/>
              </a:rPr>
              <a:t>Overcoming Perspective Parallax and Cross-Camera Blind Spots Without Facial Recognition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ian_retail_cctv_proo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01368"/>
            <a:ext cx="5266944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5440680"/>
            <a:ext cx="52669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00">
                <a:solidFill>
                  <a:srgbClr val="2563EB"/>
                </a:solidFill>
              </a:rPr>
              <a:t>AUTHENTIC MUMBAI STORE PROOF: </a:t>
            </a:r>
            <a:r>
              <a:rPr sz="850">
                <a:solidFill>
                  <a:srgbClr val="475569"/>
                </a:solidFill>
              </a:rPr>
              <a:t>YOLOv10 + OC-SORT tracking with ankle ground-contact localization, volatile DPDP 2023 face-masking, and real-time planar homography H projection to 2D store CAD.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5059375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000">
                <a:solidFill>
                  <a:srgbClr val="2563EB"/>
                </a:solidFill>
              </a:rPr>
              <a:t>PARALLAX-FREE GROUND CONTACT (H MATRIX)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Centroid projection causes 1.2-2.0m parallax under 45° cameras.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StoreFlow AI locates ground contact (ug, vg) = ((u1+u2)/2, vmax) with ankle keypoints.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Achieves &lt;0.11m metric accuracy on store CAD coordinates: s[X, Y, 1]^T = H[ug, vg, 1]^T.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73552"/>
            <a:ext cx="5059375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000">
                <a:solidFill>
                  <a:srgbClr val="10B981"/>
                </a:solidFill>
              </a:rPr>
              <a:t>ZERO-TOUCH VANISHING POINT CALIBRATION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Parallel gondola aisle lines intersect at vanishing point v1; orthogonal tile lines define v2.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Applies absolute conic constraint: v1^T * omega * v2 = 0 to extract focal length &amp; tilt.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Removes manual laser tape measurements during 15-minute store calibration.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55464"/>
            <a:ext cx="5059375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000">
                <a:solidFill>
                  <a:srgbClr val="8B5CF6"/>
                </a:solidFill>
              </a:rPr>
              <a:t>ZERO-PII RE-ID &amp; CAMERA LINK MODEL (CLM)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Upper 25% face area masked to zero before feature extraction; no biometrics stored.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OSNet-0.5x extracts 128-d apparel embeddings constrained by human walking speed (0.8-2.5 m/s).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Delivers 86.4% IDF1 tracking score across disjoint store camera 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563EB"/>
                </a:solidFill>
                <a:latin typeface="Segoe UI"/>
              </a:rPr>
              <a:t>SPATIAL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62895" y="36576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75569"/>
                </a:solidFill>
                <a:latin typeface="Segoe UI"/>
              </a:rP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Segoe UI"/>
              </a:rPr>
              <a:t>Spatial Intelligence: Physics-Based Bottlenecks &amp; Dwell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475569"/>
                </a:solidFill>
                <a:latin typeface="Segoe UI"/>
              </a:rPr>
              <a:t>Replacing Naive Bounding-Box Timers with Fluid Dynamics, Group Filtering, and Markov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ian_cctv_produce_dwe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4937760" cy="2057400"/>
          </a:xfrm>
          <a:prstGeom prst="rect">
            <a:avLst/>
          </a:prstGeom>
        </p:spPr>
      </p:pic>
      <p:pic>
        <p:nvPicPr>
          <p:cNvPr id="9" name="Picture 8" descr="indian_cctv_checkout_bottlen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39"/>
            <a:ext cx="4937760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053328"/>
            <a:ext cx="49377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800">
                <a:solidFill>
                  <a:srgbClr val="475569"/>
                </a:solidFill>
              </a:rPr>
              <a:t>Top: Produce High-Dwell Engagement  |  Bottom: Checkout Queue Bottleneck Choke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91640"/>
            <a:ext cx="5425135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000">
                <a:solidFill>
                  <a:srgbClr val="2563EB"/>
                </a:solidFill>
              </a:rPr>
              <a:t>1. PRECISION SHELF DWELL &amp; EPR ENGINE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Savitzky-Golay smoothing (W=7, p=2) eliminates detection jitter.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Filters transit: Walking at &gt;1.1 m/s excluded from dwell calculation.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1.0m Voronoi frontages compute Engagement-to-Passby Ratio (EPR): EPR = (Shoppers Dwelling &gt;=5s) / (Total Corridors Passers).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273552"/>
            <a:ext cx="5425135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000">
                <a:solidFill>
                  <a:srgbClr val="EF4444"/>
                </a:solidFill>
              </a:rPr>
              <a:t>2. FLUID DYNAMICS BOTTLENECK ENGINE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Treats crowd flow as compressible fluid: Accumulation occurs where velocity divergence div(v) &lt; -tau and density &gt;= 1.2 persons/m².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Family/Group Deflection filter cancels false alerts from clustered families chatting.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MST orientation flags checkout queue spillover into arterial aisles within 35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855464"/>
            <a:ext cx="5425135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000">
                <a:solidFill>
                  <a:srgbClr val="8B5CF6"/>
                </a:solidFill>
              </a:rPr>
              <a:t>3. MARKOV CHAIN DEAD-ZONE DISCOVERY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Models store customer circulation via transition matrix Tij = P(Zj | Zi) and stationary distribution pi.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Spatial Opportunity Score (SOS) flags aisles with &lt;8% discovery rate.</a:t>
            </a:r>
          </a:p>
          <a:p>
            <a:pPr>
              <a:spcBef>
                <a:spcPts val="300"/>
              </a:spcBef>
            </a:pPr>
            <a:r>
              <a:rPr sz="850">
                <a:solidFill>
                  <a:srgbClr val="0F172A"/>
                </a:solidFill>
              </a:rPr>
              <a:t>• Generates prescriptive staple product relocation recommendations to boost dead-zone footfall.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563EB"/>
                </a:solidFill>
                <a:latin typeface="Segoe UI"/>
              </a:rPr>
              <a:t>DECISION COCKPIT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62895" y="36576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75569"/>
                </a:solidFill>
                <a:latin typeface="Segoe UI"/>
              </a:rP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Segoe UI"/>
              </a:rPr>
              <a:t>The Executive Cockpit: From Raw Camera Feeds to Actionable Store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475569"/>
                </a:solidFill>
                <a:latin typeface="Segoe UI"/>
              </a:rPr>
              <a:t>An Intuitive Light-Mode Digital Twin with Real-Time Mobile Dispatch for On-Floor Managers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583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ian_retail_dashboar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01368"/>
            <a:ext cx="6364224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5852160"/>
            <a:ext cx="6364224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50" b="1">
                <a:solidFill>
                  <a:srgbClr val="475569"/>
                </a:solidFill>
              </a:rPr>
              <a:t>Light-Mode StoreFlow Cockpit: CAD Blueprint + Gaussian Heatmaps + Cyan Trajectories + Mobile Dispatches.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91640"/>
            <a:ext cx="3962095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b="1" sz="1000">
                <a:solidFill>
                  <a:srgbClr val="EF4444"/>
                </a:solidFill>
              </a:rPr>
              <a:t>1. 30-SECOND MOBILE DISPATCH</a:t>
            </a:r>
          </a:p>
          <a:p>
            <a:r>
              <a:rPr sz="850">
                <a:solidFill>
                  <a:srgbClr val="475569"/>
                </a:solidFill>
              </a:rPr>
              <a:t>WhatsApp / Telegram / Push Alerts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0F172A"/>
                </a:solidFill>
              </a:rPr>
              <a:t>• Floor managers receive instant alerts on phone.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0F172A"/>
                </a:solidFill>
              </a:rPr>
              <a:t>• Bottleneck Alert: 'Counter 3 queue spilling into Dal aisle. Open Counter 5.'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0F172A"/>
                </a:solidFill>
              </a:rPr>
              <a:t>• Cuts checkout queue wait times by 18%.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273552"/>
            <a:ext cx="3962095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b="1" sz="1000">
                <a:solidFill>
                  <a:srgbClr val="10B981"/>
                </a:solidFill>
              </a:rPr>
              <a:t>2. MERCHANDISING SIMULATION</a:t>
            </a:r>
          </a:p>
          <a:p>
            <a:r>
              <a:rPr sz="850">
                <a:solidFill>
                  <a:srgbClr val="475569"/>
                </a:solidFill>
              </a:rPr>
              <a:t>Drag-and-Drop Category Optimization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0F172A"/>
                </a:solidFill>
              </a:rPr>
              <a:t>• Flags dead-zone discovery rate at only 3.8%.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0F172A"/>
                </a:solidFill>
              </a:rPr>
              <a:t>• Simulates Amul Milk relocation: predicts +340% footfall lift &amp; ₹1.2L/mo revenue.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0F172A"/>
                </a:solidFill>
              </a:rPr>
              <a:t>• Tests planogram changes before moving fixtures.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855464"/>
            <a:ext cx="3962095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b="1" sz="1000">
                <a:solidFill>
                  <a:srgbClr val="2563EB"/>
                </a:solidFill>
              </a:rPr>
              <a:t>3. VERIFIED PLANOGRAM ROI</a:t>
            </a:r>
          </a:p>
          <a:p>
            <a:r>
              <a:rPr sz="850">
                <a:solidFill>
                  <a:srgbClr val="475569"/>
                </a:solidFill>
              </a:rPr>
              <a:t>Automated FMCG Brand Proof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0F172A"/>
                </a:solidFill>
              </a:rPr>
              <a:t>• Delivers verified engagement (EPR) metrics for brand-sponsored endcap displays.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0F172A"/>
                </a:solidFill>
              </a:rPr>
              <a:t>• Proves shopper dwell vs pass-through conversion.</a:t>
            </a:r>
          </a:p>
          <a:p>
            <a:pPr>
              <a:spcBef>
                <a:spcPts val="300"/>
              </a:spcBef>
            </a:pPr>
            <a:r>
              <a:rPr sz="800">
                <a:solidFill>
                  <a:srgbClr val="0F172A"/>
                </a:solidFill>
              </a:rPr>
              <a:t>• Generates monetizable retail media data assets.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563EB"/>
                </a:solidFill>
                <a:latin typeface="Segoe UI"/>
              </a:rPr>
              <a:t>ENTERPRISE VIABILITY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62895" y="36576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75569"/>
                </a:solidFill>
                <a:latin typeface="Segoe UI"/>
              </a:rP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Segoe UI"/>
              </a:rPr>
              <a:t>Enterprise Viability: &gt;97% Cost Reduction &amp; 100% Zero-PII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475569"/>
                </a:solidFill>
                <a:latin typeface="Segoe UI"/>
              </a:rPr>
              <a:t>A Commercial Model Built for Thin-Margin Retailers and Strict Data Protection Laws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6858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371600"/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Segoe UI"/>
                        </a:rPr>
                        <a:t>Cost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Segoe UI"/>
                        </a:rPr>
                        <a:t>Legacy Cloud CV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Segoe UI"/>
                        </a:rPr>
                        <a:t>StoreFlow 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Segoe UI"/>
                        </a:rPr>
                        <a:t>Savings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In-Store Cameras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3D LiDAR ($9,600)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Existing CCTV ($0)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0B981"/>
                          </a:solidFill>
                          <a:latin typeface="Segoe UI"/>
                        </a:rPr>
                        <a:t>100%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Edge Hardware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$6,500 Rack Server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$130 Intel Mini-PC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0B981"/>
                          </a:solidFill>
                          <a:latin typeface="Segoe UI"/>
                        </a:rPr>
                        <a:t>98% Saved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Monthly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750W ($85/mo)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12W ($1.30/mo)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0B981"/>
                          </a:solidFill>
                          <a:latin typeface="Segoe UI"/>
                        </a:rPr>
                        <a:t>98%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Network Uplink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32.0 Mbps Upload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3.25 KB/s MQTT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0B981"/>
                          </a:solidFill>
                          <a:latin typeface="Segoe UI"/>
                        </a:rPr>
                        <a:t>14,000x Cut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Cloud GPU OPEX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$1,200-$2,500/mo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Segoe UI"/>
                        </a:rPr>
                        <a:t>$8.50/mo 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0B981"/>
                          </a:solidFill>
                          <a:latin typeface="Segoe UI"/>
                        </a:rPr>
                        <a:t>99%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b="1" sz="950">
                          <a:solidFill>
                            <a:srgbClr val="0F172A"/>
                          </a:solidFill>
                          <a:latin typeface="Segoe UI"/>
                        </a:rPr>
                        <a:t>Year 1 Total TCO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0F172A"/>
                          </a:solidFill>
                          <a:latin typeface="Segoe UI"/>
                        </a:rPr>
                        <a:t>$24,000-$35,000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0B981"/>
                          </a:solidFill>
                          <a:latin typeface="Segoe UI"/>
                        </a:rPr>
                        <a:t>$601-$969 (₹50k-₹80k)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10B981"/>
                          </a:solidFill>
                          <a:latin typeface="Segoe UI"/>
                        </a:rPr>
                        <a:t>&gt;97% TCO Cut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715000"/>
            <a:ext cx="685800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2563EB"/>
                </a:solidFill>
              </a:rPr>
              <a:t>HYBRID B2B SAAS MODEL: ₹15,000-₹35,000 One-Time Hardware  +  ₹4,999/mo SaaS  |  &lt;3 WEEK PAYBACK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91640"/>
            <a:ext cx="3687775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/>
            <a:r>
              <a:rPr b="1" sz="1100">
                <a:solidFill>
                  <a:srgbClr val="10B981"/>
                </a:solidFill>
              </a:rPr>
              <a:t>100% STATUTORY PRIVACY-BY-DESIGN</a:t>
            </a:r>
          </a:p>
          <a:p>
            <a:r>
              <a:rPr sz="900">
                <a:solidFill>
                  <a:srgbClr val="475569"/>
                </a:solidFill>
              </a:rPr>
              <a:t>Compliant with India DPDP Act 2023 &amp; EU GDPR Article 9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✓ Zero Video to Disk: </a:t>
            </a:r>
            <a:r>
              <a:rPr sz="850">
                <a:solidFill>
                  <a:srgbClr val="475569"/>
                </a:solidFill>
              </a:rPr>
              <a:t>Frames processed exclusively in volatile GPU DMA memory; strictly zero raw video written to non-volatile storage.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✓ Hardware Face Masking: </a:t>
            </a:r>
            <a:r>
              <a:rPr sz="850">
                <a:solidFill>
                  <a:srgbClr val="475569"/>
                </a:solidFill>
              </a:rPr>
              <a:t>Upper 25% of all bounding boxes masked to zero before feature extraction. Zero facial recognition or biometrics.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✓ Ephemeral Session Tokens: </a:t>
            </a:r>
            <a:r>
              <a:rPr sz="850">
                <a:solidFill>
                  <a:srgbClr val="475569"/>
                </a:solidFill>
              </a:rPr>
              <a:t>128-d apparel embeddings purged from memory upon store departure with 30-min TTL.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F172A"/>
                </a:solidFill>
              </a:rPr>
              <a:t>✓ Employee Staff Filtering: </a:t>
            </a:r>
            <a:r>
              <a:rPr sz="850">
                <a:solidFill>
                  <a:srgbClr val="475569"/>
                </a:solidFill>
              </a:rPr>
              <a:t>Decouples store staff (HSV uniform clustering + patrol heuristics) from customer metrics, preventing false dwells.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2563EB"/>
                </a:solidFill>
                <a:latin typeface="Segoe UI"/>
              </a:rPr>
              <a:t>EMPIRICAL VALIDATION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62895" y="365760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475569"/>
                </a:solidFill>
                <a:latin typeface="Segoe UI"/>
              </a:rP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Segoe UI"/>
              </a:rPr>
              <a:t>Validation Benchmarks, Live WebGL Demo &amp; Commercial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i="1">
                <a:solidFill>
                  <a:srgbClr val="475569"/>
                </a:solidFill>
                <a:latin typeface="Segoe UI"/>
              </a:rPr>
              <a:t>Proven Empirical Performance, 100% Local Demo Fail-Safe, and 90-Day Deployment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42032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2563EB"/>
                </a:solidFill>
              </a:rPr>
              <a:t>86.4% IDF1</a:t>
            </a:r>
          </a:p>
          <a:p>
            <a:pPr algn="ctr"/>
            <a:r>
              <a:rPr sz="900">
                <a:solidFill>
                  <a:srgbClr val="0F172A"/>
                </a:solidFill>
              </a:rPr>
              <a:t>Tracking Continuity on Dense Retail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0B981"/>
                </a:solidFill>
              </a:rPr>
              <a:t>±0.11m RMSE</a:t>
            </a:r>
          </a:p>
          <a:p>
            <a:pPr algn="ctr"/>
            <a:r>
              <a:rPr sz="900">
                <a:solidFill>
                  <a:srgbClr val="0F172A"/>
                </a:solidFill>
              </a:rPr>
              <a:t>Metric CAD Ground-Plane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91640"/>
            <a:ext cx="2542032" cy="9144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8B5CF6"/>
                </a:solidFill>
              </a:rPr>
              <a:t>42ms Latency</a:t>
            </a:r>
          </a:p>
          <a:p>
            <a:pPr algn="ctr"/>
            <a:r>
              <a:rPr sz="900">
                <a:solidFill>
                  <a:srgbClr val="0F172A"/>
                </a:solidFill>
              </a:rPr>
              <a:t>8 Concurrent Streams on Jetson Orin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91640"/>
            <a:ext cx="2542032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59E0B"/>
                </a:solidFill>
              </a:rPr>
              <a:t>93.2% Accuracy</a:t>
            </a:r>
          </a:p>
          <a:p>
            <a:pPr algn="ctr"/>
            <a:r>
              <a:rPr sz="900">
                <a:solidFill>
                  <a:srgbClr val="0F172A"/>
                </a:solidFill>
              </a:rPr>
              <a:t>Dwell Time vs Stopwatch Ground-Truth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230368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/>
            <a:r>
              <a:rPr b="1" sz="1100">
                <a:solidFill>
                  <a:srgbClr val="2563EB"/>
                </a:solidFill>
              </a:rPr>
              <a:t>100% LOCAL DEMO STACK (ZERO-INTERNET FAIL-SAFE)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Complete Localhost Execution: </a:t>
            </a:r>
            <a:r>
              <a:rPr sz="850">
                <a:solidFill>
                  <a:srgbClr val="475569"/>
                </a:solidFill>
              </a:rPr>
              <a:t>RTSP loopback feed + INT8 YOLOv10/OC-SORT + Mosquitto broker (localhost:1883) + WebGL UI (localhost:3000).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Zero Venue Wi-Fi Dependency: </a:t>
            </a:r>
            <a:r>
              <a:rPr sz="850">
                <a:solidFill>
                  <a:srgbClr val="475569"/>
                </a:solidFill>
              </a:rPr>
              <a:t>Guaranteed 0ms lag, zero streaming buffer, and zero risk of freezing during IIT Bombay judging demonstration.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Triple-Proof Live Demonstration: </a:t>
            </a:r>
            <a:r>
              <a:rPr sz="850">
                <a:solidFill>
                  <a:srgbClr val="475569"/>
                </a:solidFill>
              </a:rPr>
              <a:t>1. Live CCTV split-screen bounding boxes -&gt; 2. Simulated crowd choke firing live bottleneck alert -&gt; 3. Active 3.25 KB/s MQTT telemetry.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788920"/>
            <a:ext cx="5230368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/>
            <a:r>
              <a:rPr b="1" sz="1100">
                <a:solidFill>
                  <a:srgbClr val="10B981"/>
                </a:solidFill>
              </a:rPr>
              <a:t>COMMERCIAL ROLLOUT: 90-DAY EXECUTION ROADMAP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0F172A"/>
                </a:solidFill>
              </a:rPr>
              <a:t>PHASE 1: DAYS 1-30 - Pilot Deployment in 3 Test Supermarkets
</a:t>
            </a:r>
            <a:r>
              <a:rPr sz="850">
                <a:solidFill>
                  <a:srgbClr val="475569"/>
                </a:solidFill>
              </a:rPr>
              <a:t>Connect $130 edge appliance to existing CCTV; establish baseline customer velocity and checkout queue profiles.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0F172A"/>
                </a:solidFill>
              </a:rPr>
              <a:t>PHASE 2: DAYS 31-60 - POS Revenue Fusion &amp; Auto-Dispatch
</a:t>
            </a:r>
            <a:r>
              <a:rPr sz="850">
                <a:solidFill>
                  <a:srgbClr val="475569"/>
                </a:solidFill>
              </a:rPr>
              <a:t>Correlate shelf dwell times with basket purchase receipts; calibrate WhatsApp automated cashier alerts.</a:t>
            </a:r>
          </a:p>
          <a:p>
            <a:pPr>
              <a:spcBef>
                <a:spcPts val="500"/>
              </a:spcBef>
            </a:pPr>
            <a:r>
              <a:rPr b="1" sz="900">
                <a:solidFill>
                  <a:srgbClr val="0F172A"/>
                </a:solidFill>
              </a:rPr>
              <a:t>PHASE 3: DAYS 61-90 - Enterprise Chain Scale &amp; Media Monetization
</a:t>
            </a:r>
            <a:r>
              <a:rPr sz="850">
                <a:solidFill>
                  <a:srgbClr val="475569"/>
                </a:solidFill>
              </a:rPr>
              <a:t>Roll out across 50+ stores; deliver 3-7% top-line revenue lift and 18% reduction in checkout wait times.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2563EB"/>
                </a:solidFill>
              </a:rPr>
              <a:t>STOREFLOW AI: UNLOCKING THE TRILLION-DOLLAR PHYSICAL RETAIL FLOOR WITH REAL-TIME COMPUTER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