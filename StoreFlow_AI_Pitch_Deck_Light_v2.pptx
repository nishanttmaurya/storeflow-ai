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1D4ED8"/>
                </a:solidFill>
                <a:latin typeface="Segoe UI"/>
              </a:rPr>
              <a:t>PROBLEM &amp;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65760"/>
            <a:ext cx="10972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64748B"/>
                </a:solidFill>
                <a:latin typeface="Segoe UI"/>
              </a:rPr>
              <a:t>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Segoe UI"/>
              </a:rPr>
              <a:t>StoreFlow AI: Real-Time In-Store Spatial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A Privacy-Preserving, Ultra-Low-Cost Computer Vision Engine for Physical Retail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50">
                <a:solidFill>
                  <a:srgbClr val="1D4ED8"/>
                </a:solidFill>
              </a:rPr>
              <a:t>  THE $25 TRILLION BLIND SPOT:  </a:t>
            </a:r>
            <a:r>
              <a:rPr sz="1100">
                <a:solidFill>
                  <a:srgbClr val="334155"/>
                </a:solidFill>
              </a:rPr>
              <a:t>E-commerce tracks every mouse hover and bounce rate. Physical retail accounts for $25T in commerce, yet operates blind without in-store browsing, dwell, or queue telemetry.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5230368" cy="315468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/>
            <a:r>
              <a:rPr b="1" sz="1300">
                <a:solidFill>
                  <a:srgbClr val="BE123C"/>
                </a:solidFill>
              </a:rPr>
              <a:t>THE LEGACY IMPASSE (WHY SOLUTIONS FAIL)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Specialized Sensors (LiDAR/Stereo): </a:t>
            </a:r>
            <a:r>
              <a:rPr sz="1050">
                <a:solidFill>
                  <a:srgbClr val="334155"/>
                </a:solidFill>
              </a:rPr>
              <a:t>Prohibitive CAPEX ($1,200/sensor, $10,000+ per store) requiring heavy ceiling cabling and surveying.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Cloud Video Streaming OPEX: </a:t>
            </a:r>
            <a:r>
              <a:rPr sz="1050">
                <a:solidFill>
                  <a:srgbClr val="334155"/>
                </a:solidFill>
              </a:rPr>
              <a:t>Prohibitive OPEX ($1,200-$2,500/mo per store) in continuous GPU decoding and 32 Mbps continuous bandwidth.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Severe Biometric Privacy Penalties: </a:t>
            </a:r>
            <a:r>
              <a:rPr sz="1050">
                <a:solidFill>
                  <a:srgbClr val="334155"/>
                </a:solidFill>
              </a:rPr>
              <a:t>Facial recognition triggers fines up to ₹250 Cr under India DPDP Act 2023 and EU GDPR Article 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2331720"/>
            <a:ext cx="5230368" cy="3154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/>
            <a:r>
              <a:rPr b="1" sz="1300">
                <a:solidFill>
                  <a:srgbClr val="047857"/>
                </a:solidFill>
              </a:rPr>
              <a:t>THE STOREFLOW AI BREAKTHROUGH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✓ 100% Legacy CCTV Compatible: </a:t>
            </a:r>
            <a:r>
              <a:rPr sz="1050">
                <a:solidFill>
                  <a:srgbClr val="334155"/>
                </a:solidFill>
              </a:rPr>
              <a:t>Extracts spatial intelligence directly from existing $25 CCTV security cameras with $0 new camera CAPEX.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✓ $130 Edge Appliance Architecture: </a:t>
            </a:r>
            <a:r>
              <a:rPr sz="1050">
                <a:solidFill>
                  <a:srgbClr val="334155"/>
                </a:solidFill>
              </a:rPr>
              <a:t>Hardware zero-copy decoding (DMA RAM) runs INT8 YOLOv10-Nano + OC-SORT on-premise at only 12W power.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✓ 100% Zero-PII Statutory Privacy: </a:t>
            </a:r>
            <a:r>
              <a:rPr sz="1050">
                <a:solidFill>
                  <a:srgbClr val="334155"/>
                </a:solidFill>
              </a:rPr>
              <a:t>Faces are hardware-masked in volatile RAM; only anonymous 2D trajectory tokens stream over MQTT at 3.25 KB/s.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3429000" cy="868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D4ED8"/>
                </a:solidFill>
              </a:rPr>
              <a:t>$0 CAPEX</a:t>
            </a:r>
          </a:p>
          <a:p>
            <a:pPr algn="ctr"/>
            <a:r>
              <a:rPr sz="1000" b="1">
                <a:solidFill>
                  <a:srgbClr val="0F172A"/>
                </a:solidFill>
              </a:rPr>
              <a:t>100% Legacy CCTV Compatibility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5623560"/>
            <a:ext cx="3429000" cy="868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047857"/>
                </a:solidFill>
              </a:rPr>
              <a:t>14,000× CUT</a:t>
            </a:r>
          </a:p>
          <a:p>
            <a:pPr algn="ctr"/>
            <a:r>
              <a:rPr sz="1000" b="1">
                <a:solidFill>
                  <a:srgbClr val="0F172A"/>
                </a:solidFill>
              </a:rPr>
              <a:t>Raw 32 Mbps -&gt; 3.25 KB/s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5623560"/>
            <a:ext cx="3429000" cy="86868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D28D9"/>
                </a:solidFill>
              </a:rPr>
              <a:t>&gt;97% TCO CUT</a:t>
            </a:r>
          </a:p>
          <a:p>
            <a:pPr algn="ctr"/>
            <a:r>
              <a:rPr sz="1000" b="1">
                <a:solidFill>
                  <a:srgbClr val="0F172A"/>
                </a:solidFill>
              </a:rPr>
              <a:t>$601/yr vs $24,000/yr Legacy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1D4ED8"/>
                </a:solidFill>
                <a:latin typeface="Segoe UI"/>
              </a:rPr>
              <a:t>OPERATIONAL FEASIBILITY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65760"/>
            <a:ext cx="10972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64748B"/>
                </a:solidFill>
                <a:latin typeface="Segoe UI"/>
              </a:rP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Segoe UI"/>
              </a:rPr>
              <a:t>How We Deploy: The 4-Step Zero-Disruption Supermarket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From CAD / Mobile Photo Blueprint to Live Intelligence in &lt;48 Hours with Zero Downtime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4203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/>
            <a:r>
              <a:rPr b="1" sz="1100">
                <a:solidFill>
                  <a:srgbClr val="1D4ED8"/>
                </a:solidFill>
              </a:rPr>
              <a:t>STEP 1 • 30 MINS</a:t>
            </a:r>
          </a:p>
          <a:p>
            <a:pPr>
              <a:spcBef>
                <a:spcPts val="400"/>
              </a:spcBef>
            </a:pPr>
            <a:r>
              <a:rPr b="1" sz="1350">
                <a:solidFill>
                  <a:srgbClr val="0F172A"/>
                </a:solidFill>
              </a:rPr>
              <a:t>Blueprint Ingestion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34155"/>
                </a:solidFill>
              </a:rPr>
              <a:t>Upload CAD DXF/SVG or snap smartphone photo of store fire map.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✓ Auto-contour fixture vectorization in &lt;2 min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✓ One-click semantic department tagging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✓ Saves $3,000/store in surveying visits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91640"/>
            <a:ext cx="254203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/>
            <a:r>
              <a:rPr b="1" sz="1100">
                <a:solidFill>
                  <a:srgbClr val="047857"/>
                </a:solidFill>
              </a:rPr>
              <a:t>STEP 2 • 15 MINS</a:t>
            </a:r>
          </a:p>
          <a:p>
            <a:pPr>
              <a:spcBef>
                <a:spcPts val="400"/>
              </a:spcBef>
            </a:pPr>
            <a:r>
              <a:rPr b="1" sz="1350">
                <a:solidFill>
                  <a:srgbClr val="0F172A"/>
                </a:solidFill>
              </a:rPr>
              <a:t>CCTV Auto-Discovery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34155"/>
                </a:solidFill>
              </a:rPr>
              <a:t>Multicast ONVIF WS-Discovery scans VLAN, finding all cameras in &lt;45s.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✓ 3-min 4-point landmark alignment tool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✓ Computes planar homography H matrix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✓ Zero ladders, zero ceiling wiring touches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91640"/>
            <a:ext cx="254203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/>
            <a:r>
              <a:rPr b="1" sz="1100">
                <a:solidFill>
                  <a:srgbClr val="6D28D9"/>
                </a:solidFill>
              </a:rPr>
              <a:t>STEP 3 • 10 MINS</a:t>
            </a:r>
          </a:p>
          <a:p>
            <a:pPr>
              <a:spcBef>
                <a:spcPts val="400"/>
              </a:spcBef>
            </a:pPr>
            <a:r>
              <a:rPr b="1" sz="1350">
                <a:solidFill>
                  <a:srgbClr val="0F172A"/>
                </a:solidFill>
              </a:rPr>
              <a:t>Plug-In Edge Appliance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34155"/>
                </a:solidFill>
              </a:rPr>
              <a:t>Connect 1 Ethernet cable to PoE switch + plug 12W power adapter.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✓ Passive video tap: NVR recording unaffected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✓ Zero inbound open ports (TLS 1.3)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✓ Non-invasive: POS terminals run unchanged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91640"/>
            <a:ext cx="2542032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/>
            <a:r>
              <a:rPr b="1" sz="1100">
                <a:solidFill>
                  <a:srgbClr val="B45309"/>
                </a:solidFill>
              </a:rPr>
              <a:t>STEP 4 • 48 HOURS</a:t>
            </a:r>
          </a:p>
          <a:p>
            <a:pPr>
              <a:spcBef>
                <a:spcPts val="400"/>
              </a:spcBef>
            </a:pPr>
            <a:r>
              <a:rPr b="1" sz="1350">
                <a:solidFill>
                  <a:srgbClr val="0F172A"/>
                </a:solidFill>
              </a:rPr>
              <a:t>Go-Live &amp; Baseline</a:t>
            </a:r>
          </a:p>
          <a:p>
            <a:pPr>
              <a:spcBef>
                <a:spcPts val="600"/>
              </a:spcBef>
            </a:pPr>
            <a:r>
              <a:rPr sz="1050">
                <a:solidFill>
                  <a:srgbClr val="334155"/>
                </a:solidFill>
              </a:rPr>
              <a:t>24h unsupervised learning establishes walking &amp; queue baselines.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✓ Optional POS link fuses dwell with basket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✓ Mobile WhatsApp/Telegram alerts active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0F172A"/>
                </a:solidFill>
              </a:rPr>
              <a:t>✓ Light-mode decision cockpit fully 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06440"/>
            <a:ext cx="10728655" cy="5943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50">
                <a:solidFill>
                  <a:srgbClr val="047857"/>
                </a:solidFill>
              </a:rPr>
              <a:t>DEPLOYMENT GUARANTEE: ZERO STORE DOWNTIME  •  ZERO PHYSICAL CABLING  •  100% PASSIVE VIDEO TAP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1D4ED8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65760"/>
            <a:ext cx="10972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64748B"/>
                </a:solidFill>
                <a:latin typeface="Segoe UI"/>
              </a:rP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Segoe UI"/>
              </a:rPr>
              <a:t>End-to-End Architecture: Edge-Native Zero-Copy CV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From Oblique RTSP Camera Streams to 2D Metric Spatial Intelligence with 3.25 KB/s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4688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/>
            <a:r>
              <a:rPr b="1" sz="1050">
                <a:solidFill>
                  <a:srgbClr val="1D4ED8"/>
                </a:solidFill>
              </a:rPr>
              <a:t>TIER 1 • PHYSICAL</a:t>
            </a:r>
          </a:p>
          <a:p>
            <a:r>
              <a:rPr b="1" sz="1200">
                <a:solidFill>
                  <a:srgbClr val="0F172A"/>
                </a:solidFill>
              </a:rPr>
              <a:t>CCTV Video Ingestion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8-16 IP Cameras: </a:t>
            </a:r>
            <a:r>
              <a:rPr sz="950">
                <a:solidFill>
                  <a:srgbClr val="334155"/>
                </a:solidFill>
              </a:rPr>
              <a:t>1080p RTSP feeds over existing store PoE switch.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Zero Cloud Upload: </a:t>
            </a:r>
            <a:r>
              <a:rPr sz="950">
                <a:solidFill>
                  <a:srgbClr val="334155"/>
                </a:solidFill>
              </a:rPr>
              <a:t>Raw video never leaves store LAN; 0 Mbps public upload.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Passive RTSP Tap: </a:t>
            </a:r>
            <a:r>
              <a:rPr sz="950">
                <a:solidFill>
                  <a:srgbClr val="334155"/>
                </a:solidFill>
              </a:rPr>
              <a:t>Preserves existing NVR storage without performance drops.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691640"/>
            <a:ext cx="306324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/>
            <a:r>
              <a:rPr b="1" sz="1050">
                <a:solidFill>
                  <a:srgbClr val="047857"/>
                </a:solidFill>
              </a:rPr>
              <a:t>TIER 2 • EDGE BOX ($130)</a:t>
            </a:r>
          </a:p>
          <a:p>
            <a:r>
              <a:rPr b="1" sz="1200">
                <a:solidFill>
                  <a:srgbClr val="0F172A"/>
                </a:solidFill>
              </a:rPr>
              <a:t>Zero-Copy CV Core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GStreamer DMA Buffer: </a:t>
            </a:r>
            <a:r>
              <a:rPr sz="950">
                <a:solidFill>
                  <a:srgbClr val="334155"/>
                </a:solidFill>
              </a:rPr>
              <a:t>nvv4l2/vaapi decodes directly into GPU unified memory.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YOLOv10-Nano INT8: </a:t>
            </a:r>
            <a:r>
              <a:rPr sz="950">
                <a:solidFill>
                  <a:srgbClr val="334155"/>
                </a:solidFill>
              </a:rPr>
              <a:t>NMS-free dual label assignment executes in 1.84ms.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OC-SORT + Ankle Points: </a:t>
            </a:r>
            <a:r>
              <a:rPr sz="950">
                <a:solidFill>
                  <a:srgbClr val="334155"/>
                </a:solidFill>
              </a:rPr>
              <a:t>Tracks ground contact (ug, vmax) with &lt;0.11m RMSE.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Zero-PII Re-ID (OSNet): </a:t>
            </a:r>
            <a:r>
              <a:rPr sz="950">
                <a:solidFill>
                  <a:srgbClr val="334155"/>
                </a:solidFill>
              </a:rPr>
              <a:t>Upper 25% face area masked; extracts 128-d apparel vector.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83096" y="1691640"/>
            <a:ext cx="283464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/>
            <a:r>
              <a:rPr b="1" sz="1050">
                <a:solidFill>
                  <a:srgbClr val="6D28D9"/>
                </a:solidFill>
              </a:rPr>
              <a:t>TIER 3 • CLOUD SAAS</a:t>
            </a:r>
          </a:p>
          <a:p>
            <a:r>
              <a:rPr b="1" sz="1200">
                <a:solidFill>
                  <a:srgbClr val="0F172A"/>
                </a:solidFill>
              </a:rPr>
              <a:t>Columnar Spatial Analytics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ClickHouse / DuckDB: </a:t>
            </a:r>
            <a:r>
              <a:rPr sz="950">
                <a:solidFill>
                  <a:srgbClr val="334155"/>
                </a:solidFill>
              </a:rPr>
              <a:t>Columnar trajectory store streaming at 3.25 KB/s.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Gaussian KDE Engine: </a:t>
            </a:r>
            <a:r>
              <a:rPr sz="950">
                <a:solidFill>
                  <a:srgbClr val="334155"/>
                </a:solidFill>
              </a:rPr>
              <a:t>Renders continuous 2D foot-traffic density heatmaps.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Fluid Dynamics Choke: </a:t>
            </a:r>
            <a:r>
              <a:rPr sz="950">
                <a:solidFill>
                  <a:srgbClr val="334155"/>
                </a:solidFill>
              </a:rPr>
              <a:t>Detects bottlenecks where velocity divergence div(v) &lt; 0.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Markov Chain Matrix: </a:t>
            </a:r>
            <a:r>
              <a:rPr sz="950">
                <a:solidFill>
                  <a:srgbClr val="334155"/>
                </a:solidFill>
              </a:rPr>
              <a:t>Identifies neglected dead-zones (&lt;8% discovery).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27464" y="1691640"/>
            <a:ext cx="214884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82880"/>
          <a:lstStyle/>
          <a:p>
            <a:pPr algn="ctr"/>
            <a:r>
              <a:rPr b="1" sz="1050">
                <a:solidFill>
                  <a:srgbClr val="B45309"/>
                </a:solidFill>
              </a:rPr>
              <a:t>TIER 4 • DECISION COCKPIT</a:t>
            </a:r>
          </a:p>
          <a:p>
            <a:r>
              <a:rPr b="1" sz="1200">
                <a:solidFill>
                  <a:srgbClr val="0F172A"/>
                </a:solidFill>
              </a:rPr>
              <a:t>Executive UI &amp; Mobile Bots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2D Digital Twin Cockpit: </a:t>
            </a:r>
            <a:r>
              <a:rPr sz="950">
                <a:solidFill>
                  <a:srgbClr val="334155"/>
                </a:solidFill>
              </a:rPr>
              <a:t>Interactive CAD store map with live heatmaps and traces.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WhatsApp / Push Bot: </a:t>
            </a:r>
            <a:r>
              <a:rPr sz="950">
                <a:solidFill>
                  <a:srgbClr val="334155"/>
                </a:solidFill>
              </a:rPr>
              <a:t>Dispatches 30-second queue alerts to floor supervisors.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Planogram Simulation: </a:t>
            </a:r>
            <a:r>
              <a:rPr sz="950">
                <a:solidFill>
                  <a:srgbClr val="334155"/>
                </a:solidFill>
              </a:rPr>
              <a:t>Predicts footfall lift before moving physical displays.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1D4ED8"/>
                </a:solidFill>
                <a:latin typeface="Segoe UI"/>
              </a:rPr>
              <a:t>COMPUTER VISION DEEP-DIVE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65760"/>
            <a:ext cx="10972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64748B"/>
                </a:solidFill>
                <a:latin typeface="Segoe UI"/>
              </a:rP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Segoe UI"/>
              </a:rPr>
              <a:t>CV Core: Metric BEV Projection &amp; Disjoint Camera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Overcoming Perspective Parallax and Cross-Camera Blind Spots Without Facial Recognition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48640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dian_retail_cctv_proo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10512"/>
            <a:ext cx="521208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5321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1D4ED8"/>
                </a:solidFill>
              </a:rPr>
              <a:t>MUMBAI SUPERMARKET CCTV PROOF: </a:t>
            </a:r>
            <a:r>
              <a:rPr sz="950">
                <a:solidFill>
                  <a:srgbClr val="334155"/>
                </a:solidFill>
              </a:rPr>
              <a:t>Live YOLOv10-Nano + OC-SORT detection, ankle ground-contact crosshairs, DPDP 2023 face masking, and real-time homography H projection to 2D store CAD.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5059375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/>
            <a:r>
              <a:rPr b="1" sz="1100">
                <a:solidFill>
                  <a:srgbClr val="1D4ED8"/>
                </a:solidFill>
              </a:rPr>
              <a:t>PARALLAX-FREE GROUND CONTACT (H MATRIX)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Centroid projection creates 1.2-2.0m parallax under 45° cameras.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Locates ground contact (ug, vg) = ((u1+u2)/2, vmax) with ankle keypoints.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Achieves &lt;0.11m metric accuracy on store CAD: s[X, Y, 1]^T = H[ug, vg, 1]^T.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82696"/>
            <a:ext cx="5059375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/>
            <a:r>
              <a:rPr b="1" sz="1100">
                <a:solidFill>
                  <a:srgbClr val="047857"/>
                </a:solidFill>
              </a:rPr>
              <a:t>ZERO-TOUCH VANISHING POINT CALIBRATION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Parallel gondola aisle lines intersect at vanishing point v1; tiles define v2.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Applies absolute conic constraint: v1^T * omega * v2 = 0 to extract focal &amp; tilt.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Eliminates manual laser tape measurements during 15-minute calibration.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873752"/>
            <a:ext cx="5059375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/>
            <a:r>
              <a:rPr b="1" sz="1100">
                <a:solidFill>
                  <a:srgbClr val="6D28D9"/>
                </a:solidFill>
              </a:rPr>
              <a:t>ZERO-PII RE-ID &amp; CAMERA LINK MODEL (CLM)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Upper 25% face area masked in volatile RAM; zero biometric facial data stored.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OSNet-0.5x extracts 128-d apparel embeddings bounded by walking speed (0.8-2.5 m/s).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Delivers an 86.4% IDF1 tracking score across disjoint store camera 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1D4ED8"/>
                </a:solidFill>
                <a:latin typeface="Segoe UI"/>
              </a:rPr>
              <a:t>SPATIAL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65760"/>
            <a:ext cx="10972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64748B"/>
                </a:solidFill>
                <a:latin typeface="Segoe UI"/>
              </a:rP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Segoe UI"/>
              </a:rPr>
              <a:t>Spatial Intelligence: Physics-Based Bottlenecks &amp; Dwell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Replacing Naive Bounding-Box Timers with Fluid Dynamics, Group Filtering, and Markov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2064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dian_cctv_produce_dwe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01368"/>
            <a:ext cx="4901184" cy="2084831"/>
          </a:xfrm>
          <a:prstGeom prst="rect">
            <a:avLst/>
          </a:prstGeom>
        </p:spPr>
      </p:pic>
      <p:pic>
        <p:nvPicPr>
          <p:cNvPr id="9" name="Picture 8" descr="indian_cctv_checkout_bottlene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005072"/>
            <a:ext cx="4901184" cy="20848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5040" y="1691640"/>
            <a:ext cx="5425135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/>
            <a:r>
              <a:rPr b="1" sz="1100">
                <a:solidFill>
                  <a:srgbClr val="1D4ED8"/>
                </a:solidFill>
              </a:rPr>
              <a:t>1. PRECISION SHELF DWELL &amp; EPR ENGINE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Savitzky-Golay smoothing (W=7, p=2) eliminates detection jitter.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Filters transit: Walking at &gt;1.1 m/s excluded from dwell calculation.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1.0m Voronoi frontages compute Engagement-to-Passby Ratio (EPR): EPR = (Shoppers Dwelling &gt;=5s) / (Total Corridor Passers).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282696"/>
            <a:ext cx="5425135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/>
            <a:r>
              <a:rPr b="1" sz="1100">
                <a:solidFill>
                  <a:srgbClr val="BE123C"/>
                </a:solidFill>
              </a:rPr>
              <a:t>2. FLUID DYNAMICS BOTTLENECK ENGINE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Treats crowd flow as compressible fluid: Alerts when div(v) &lt; -tau and density &gt;= 1.2 p/m².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Family/Group Deflection filter cancels false alarms from clustered chatting families.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MST orientation flags checkout queue spillover into arterial aisles within 35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873752"/>
            <a:ext cx="5425135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/>
            <a:r>
              <a:rPr b="1" sz="1100">
                <a:solidFill>
                  <a:srgbClr val="6D28D9"/>
                </a:solidFill>
              </a:rPr>
              <a:t>3. MARKOV CHAIN DEAD-ZONE DISCOVERY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Models customer circulation via transition matrix Tij = P(Zj | Zi).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Spatial Opportunity Score (SOS) pinpoints aisles with &lt;8% discovery rate.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0F172A"/>
                </a:solidFill>
              </a:rPr>
              <a:t>• Simulates staple product relocations to boost neglected aisle footfall by up to +340%.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1D4ED8"/>
                </a:solidFill>
                <a:latin typeface="Segoe UI"/>
              </a:rPr>
              <a:t>DECISION COCKPIT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65760"/>
            <a:ext cx="10972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64748B"/>
                </a:solidFill>
                <a:latin typeface="Segoe UI"/>
              </a:rP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Segoe UI"/>
              </a:rPr>
              <a:t>The Executive Cockpit: From Raw Camera Feeds to Actionable Store 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An Intuitive Light-Mode Digital Twin with Real-Time Mobile Dispatch for On-Floor Managers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6583680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dian_retail_dashboar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10512"/>
            <a:ext cx="6309360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897880"/>
            <a:ext cx="6309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50">
                <a:solidFill>
                  <a:srgbClr val="64748B"/>
                </a:solidFill>
              </a:rPr>
              <a:t>Light-Mode Store Cockpit: CAD Blueprint + Gaussian Heatmaps + Cyan Trajectories + Automated Action Dispatches.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1691640"/>
            <a:ext cx="3962095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/>
            <a:r>
              <a:rPr b="1" sz="1100">
                <a:solidFill>
                  <a:srgbClr val="BE123C"/>
                </a:solidFill>
              </a:rPr>
              <a:t>1. 30-SECOND MOBILE DISPATCH</a:t>
            </a:r>
          </a:p>
          <a:p>
            <a:r>
              <a:rPr sz="950">
                <a:solidFill>
                  <a:srgbClr val="64748B"/>
                </a:solidFill>
              </a:rPr>
              <a:t>WhatsApp / Telegram Alerts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</a:rPr>
              <a:t>• Floor managers receive instant alerts on smartphones.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</a:rPr>
              <a:t>• Bottleneck Alert: 'Counter 3 spilling into Dal aisle. Action: Open Counter 5 Now.'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</a:rPr>
              <a:t>• Cuts checkout queue wait times by 18%.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282696"/>
            <a:ext cx="3962095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/>
            <a:r>
              <a:rPr b="1" sz="1100">
                <a:solidFill>
                  <a:srgbClr val="047857"/>
                </a:solidFill>
              </a:rPr>
              <a:t>2. MERCHANDISING SIMULATION</a:t>
            </a:r>
          </a:p>
          <a:p>
            <a:r>
              <a:rPr sz="950">
                <a:solidFill>
                  <a:srgbClr val="64748B"/>
                </a:solidFill>
              </a:rPr>
              <a:t>Category Footfall Lift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</a:rPr>
              <a:t>• Flags Spices aisle dead zone (3.8% discovery rate).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</a:rPr>
              <a:t>• Simulates Amul Milk move: predicts +340% footfall lift &amp; ₹1.2L/mo incremental revenue.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</a:rPr>
              <a:t>• A/B tests planogram changes before moving fixtures.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4873752"/>
            <a:ext cx="3962095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/>
            <a:r>
              <a:rPr b="1" sz="1100">
                <a:solidFill>
                  <a:srgbClr val="1D4ED8"/>
                </a:solidFill>
              </a:rPr>
              <a:t>3. VERIFIED PLANOGRAM ROI</a:t>
            </a:r>
          </a:p>
          <a:p>
            <a:r>
              <a:rPr sz="950">
                <a:solidFill>
                  <a:srgbClr val="64748B"/>
                </a:solidFill>
              </a:rPr>
              <a:t>FMCG Brand Sponsorship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</a:rPr>
              <a:t>• Delivers verified engagement (EPR) metrics for brand-sponsored promotional endcaps.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</a:rPr>
              <a:t>• Proves shopper dwell vs pass-through conversion.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0F172A"/>
                </a:solidFill>
              </a:rPr>
              <a:t>• Generates monetizable retail media data assets.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1D4ED8"/>
                </a:solidFill>
                <a:latin typeface="Segoe UI"/>
              </a:rPr>
              <a:t>ENTERPRISE VIABILITY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65760"/>
            <a:ext cx="10972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64748B"/>
                </a:solidFill>
                <a:latin typeface="Segoe UI"/>
              </a:rP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Segoe UI"/>
              </a:rPr>
              <a:t>Enterprise Viability: &gt;97% Cost Reduction &amp; 100% Zero-PII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A Commercial Model Built for Thin-Margin Retailers and Strict Data Protection Laws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91640"/>
          <a:ext cx="68580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737360"/>
                <a:gridCol w="1371600"/>
              </a:tblGrid>
              <a:tr h="568234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Segoe UI"/>
                        </a:rPr>
                        <a:t>Cost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Segoe UI"/>
                        </a:rPr>
                        <a:t>Legacy Cloud CV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Segoe UI"/>
                        </a:rPr>
                        <a:t>StoreFlow 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Segoe UI"/>
                        </a:rPr>
                        <a:t>Savings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Segoe UI"/>
                        </a:rPr>
                        <a:t>In-Store Cameras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Segoe UI"/>
                        </a:rPr>
                        <a:t>3D LiDAR ($9,600)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Segoe UI"/>
                        </a:rPr>
                        <a:t>Existing CCTV ($0)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47857"/>
                          </a:solidFill>
                          <a:latin typeface="Segoe UI"/>
                        </a:rPr>
                        <a:t>100%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Segoe UI"/>
                        </a:rPr>
                        <a:t>Edge Hardware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Segoe UI"/>
                        </a:rPr>
                        <a:t>$6,500 Rack Server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Segoe UI"/>
                        </a:rPr>
                        <a:t>$130 Intel Mini-PC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47857"/>
                          </a:solidFill>
                          <a:latin typeface="Segoe UI"/>
                        </a:rPr>
                        <a:t>98% Saved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Segoe UI"/>
                        </a:rPr>
                        <a:t>Monthly Power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Segoe UI"/>
                        </a:rPr>
                        <a:t>750W ($85/mo)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Segoe UI"/>
                        </a:rPr>
                        <a:t>12W ($1.30/mo)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47857"/>
                          </a:solidFill>
                          <a:latin typeface="Segoe UI"/>
                        </a:rPr>
                        <a:t>98% Power Cut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Segoe UI"/>
                        </a:rPr>
                        <a:t>Network Uplink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Segoe UI"/>
                        </a:rPr>
                        <a:t>32.0 Mbps Upload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Segoe UI"/>
                        </a:rPr>
                        <a:t>3.25 KB/s MQTT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47857"/>
                          </a:solidFill>
                          <a:latin typeface="Segoe UI"/>
                        </a:rPr>
                        <a:t>14,000× Cut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Segoe UI"/>
                        </a:rPr>
                        <a:t>Cloud GPU OPEX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Segoe UI"/>
                        </a:rPr>
                        <a:t>$1,200-$2,500/mo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  <a:latin typeface="Segoe UI"/>
                        </a:rPr>
                        <a:t>$8.50/mo 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47857"/>
                          </a:solidFill>
                          <a:latin typeface="Segoe UI"/>
                        </a:rPr>
                        <a:t>99% Cloud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0F172A"/>
                          </a:solidFill>
                          <a:latin typeface="Segoe UI"/>
                        </a:rPr>
                        <a:t>Year 1 Total TCO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0F172A"/>
                          </a:solidFill>
                          <a:latin typeface="Segoe UI"/>
                        </a:rPr>
                        <a:t>$24,000-$35,000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047857"/>
                          </a:solidFill>
                          <a:latin typeface="Segoe UI"/>
                        </a:rPr>
                        <a:t>$601-$969 (₹50k-₹80k)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047857"/>
                          </a:solidFill>
                          <a:latin typeface="Segoe UI"/>
                        </a:rPr>
                        <a:t>&gt;97% TCO Cut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779008"/>
            <a:ext cx="6858000" cy="62179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D4ED8"/>
                </a:solidFill>
              </a:rPr>
              <a:t>HYBRID B2B SAAS: ₹15k-₹35k One-Time Hardware + ₹4,999/mo SaaS  •  &lt;3 WEEK PAYBACK HORIZON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691640"/>
            <a:ext cx="3687775" cy="4709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/>
            <a:r>
              <a:rPr b="1" sz="1200">
                <a:solidFill>
                  <a:srgbClr val="047857"/>
                </a:solidFill>
              </a:rPr>
              <a:t>🛡️ 100% STATUTORY PRIVACY-BY-DESIGN</a:t>
            </a:r>
          </a:p>
          <a:p>
            <a:r>
              <a:rPr sz="950">
                <a:solidFill>
                  <a:srgbClr val="64748B"/>
                </a:solidFill>
              </a:rPr>
              <a:t>Fully compliant with India DPDP Act 2023 &amp; EU GDPR Article 9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✓ Zero Video Saved to Disk:
</a:t>
            </a:r>
            <a:r>
              <a:rPr sz="950">
                <a:solidFill>
                  <a:srgbClr val="334155"/>
                </a:solidFill>
              </a:rPr>
              <a:t>Frames processed exclusively in volatile GPU DMA memory; zero video written to non-volatile disks.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✓ Hardware Face Masking:
</a:t>
            </a:r>
            <a:r>
              <a:rPr sz="950">
                <a:solidFill>
                  <a:srgbClr val="334155"/>
                </a:solidFill>
              </a:rPr>
              <a:t>Upper 25% of all bounding boxes zeroed out in RAM before feature extraction. Zero facial recognition.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✓ Ephemeral Session Tokens:
</a:t>
            </a:r>
            <a:r>
              <a:rPr sz="950">
                <a:solidFill>
                  <a:srgbClr val="334155"/>
                </a:solidFill>
              </a:rPr>
              <a:t>128-d apparel embeddings purged from memory upon store departure with 30-min TTL.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✓ Employee Staff Filtering:
</a:t>
            </a:r>
            <a:r>
              <a:rPr sz="950">
                <a:solidFill>
                  <a:srgbClr val="334155"/>
                </a:solidFill>
              </a:rPr>
              <a:t>Decouples staff uniform HSV clustering from customer metrics, preventing dwell contamination.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19456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1D4ED8"/>
                </a:solidFill>
                <a:latin typeface="Segoe UI"/>
              </a:rPr>
              <a:t>EMPIRICAL VALIDATION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2895" y="365760"/>
            <a:ext cx="10972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64748B"/>
                </a:solidFill>
                <a:latin typeface="Segoe UI"/>
              </a:rPr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Segoe UI"/>
              </a:rPr>
              <a:t>Validation Benchmarks, Live WebGL Demo &amp; Commercial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98448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Segoe UI"/>
              </a:rPr>
              <a:t>Proven Empirical Performance, 100% Local Demo Fail-Safe, and 90-Day Deployment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42032" cy="960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900">
                <a:solidFill>
                  <a:srgbClr val="1D4ED8"/>
                </a:solidFill>
              </a:rPr>
              <a:t>86.4% IDF1</a:t>
            </a:r>
          </a:p>
          <a:p>
            <a:pPr algn="ctr"/>
            <a:r>
              <a:rPr sz="950" b="1">
                <a:solidFill>
                  <a:srgbClr val="0F172A"/>
                </a:solidFill>
              </a:rPr>
              <a:t>Tracking Continuity on Dense Retail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91640"/>
            <a:ext cx="2542032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900">
                <a:solidFill>
                  <a:srgbClr val="047857"/>
                </a:solidFill>
              </a:rPr>
              <a:t>±0.11m RMSE</a:t>
            </a:r>
          </a:p>
          <a:p>
            <a:pPr algn="ctr"/>
            <a:r>
              <a:rPr sz="950" b="1">
                <a:solidFill>
                  <a:srgbClr val="0F172A"/>
                </a:solidFill>
              </a:rPr>
              <a:t>Metric CAD Ground-Plane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91640"/>
            <a:ext cx="2542032" cy="9601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900">
                <a:solidFill>
                  <a:srgbClr val="6D28D9"/>
                </a:solidFill>
              </a:rPr>
              <a:t>42ms Latency</a:t>
            </a:r>
          </a:p>
          <a:p>
            <a:pPr algn="ctr"/>
            <a:r>
              <a:rPr sz="950" b="1">
                <a:solidFill>
                  <a:srgbClr val="0F172A"/>
                </a:solidFill>
              </a:rPr>
              <a:t>8 Streams on Jetson Orin Nano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91640"/>
            <a:ext cx="2542032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900">
                <a:solidFill>
                  <a:srgbClr val="B45309"/>
                </a:solidFill>
              </a:rPr>
              <a:t>93.2% Match</a:t>
            </a:r>
          </a:p>
          <a:p>
            <a:pPr algn="ctr"/>
            <a:r>
              <a:rPr sz="950" b="1">
                <a:solidFill>
                  <a:srgbClr val="0F172A"/>
                </a:solidFill>
              </a:rPr>
              <a:t>Dwell Time vs Stopwatch Ground-Truth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40"/>
            <a:ext cx="5230368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/>
            <a:r>
              <a:rPr b="1" sz="1200">
                <a:solidFill>
                  <a:srgbClr val="1D4ED8"/>
                </a:solidFill>
              </a:rPr>
              <a:t>100% LOCAL DEMO STACK (ZERO-INTERNET FAIL-SAFE)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• Complete Localhost Execution: </a:t>
            </a:r>
            <a:r>
              <a:rPr sz="950">
                <a:solidFill>
                  <a:srgbClr val="334155"/>
                </a:solidFill>
              </a:rPr>
              <a:t>RTSP loopback feed + INT8 YOLOv10/OC-SORT + Mosquitto broker (localhost:1883) + WebGL UI (localhost:3000).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• Zero Dependency on Venue Wi-Fi: </a:t>
            </a:r>
            <a:r>
              <a:rPr sz="950">
                <a:solidFill>
                  <a:srgbClr val="334155"/>
                </a:solidFill>
              </a:rPr>
              <a:t>Guaranteed 0ms lag, zero streaming buffer, and zero risk of freezing during IIT Bombay judging demonstration.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• Triple-Proof Live Demonstration: </a:t>
            </a:r>
            <a:r>
              <a:rPr sz="950">
                <a:solidFill>
                  <a:srgbClr val="334155"/>
                </a:solidFill>
              </a:rPr>
              <a:t>1. Live CCTV split-screen bounding boxes -&gt; 2. Simulated crowd choke firing live bottleneck alert -&gt; 3. Active 3.25 KB/s MQTT telemetry.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2834640"/>
            <a:ext cx="5230368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64592"/>
          <a:lstStyle/>
          <a:p>
            <a:pPr algn="ctr"/>
            <a:r>
              <a:rPr b="1" sz="1200">
                <a:solidFill>
                  <a:srgbClr val="047857"/>
                </a:solidFill>
              </a:rPr>
              <a:t>COMMERCIAL ROLLOUT: 90-DAY EXECUTION ROADMAP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PHASE 1 (DAYS 1-30): Edge Pilot in 3 Test Supermarkets
</a:t>
            </a:r>
            <a:r>
              <a:rPr sz="950">
                <a:solidFill>
                  <a:srgbClr val="334155"/>
                </a:solidFill>
              </a:rPr>
              <a:t>Deploy $130 edge box on existing CCTV; calibrate walking speed &amp; queue baselines.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PHASE 2 (DAYS 31-60): POS Revenue Fusion &amp; Auto-Dispatch
</a:t>
            </a:r>
            <a:r>
              <a:rPr sz="950">
                <a:solidFill>
                  <a:srgbClr val="334155"/>
                </a:solidFill>
              </a:rPr>
              <a:t>Correlate dwell time with basket purchases; calibrate automated cashier dispatch.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172A"/>
                </a:solidFill>
              </a:rPr>
              <a:t>PHASE 3 (DAYS 61-90): Enterprise Chain Scale Rollout
</a:t>
            </a:r>
            <a:r>
              <a:rPr sz="950">
                <a:solidFill>
                  <a:srgbClr val="334155"/>
                </a:solidFill>
              </a:rPr>
              <a:t>Roll out across 50+ stores, delivering 3-7% revenue lift and 18% wait time reduction.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79008"/>
            <a:ext cx="10728655" cy="621792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50">
                <a:solidFill>
                  <a:srgbClr val="1D4ED8"/>
                </a:solidFill>
              </a:rPr>
              <a:t>STOREFLOW AI: UNLOCKING THE TRILLION-DOLLAR PHYSICAL RETAIL FLOOR WITH REAL-TIME COMPUTER 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